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81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all bracketed placeholders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slide. Update subtitles to match your specific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What Problem Are We Solving?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pain points and stat callout with real data. The orange number = the single most compelling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Our Recommended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solution cards. Highlight your recommended option in the center (navy)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Who This Is Built For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each persona card with real role names and specific needs. Add or remove rows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Value &amp; ROI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KPI values and before/after bullets with real data from your business case or feasibility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Architecture &amp; Stack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architecture boxes and table rows with your actual tech stack. Add or remove rows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See It in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the placeholder rectangles and insert actual screenshot images. Keep captions concise — 8 words or fewer.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for a single hero screenshot that needs more real estate. Good for dashboards, list views, or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Update next steps and contact info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organization/kmc-presentations/assets/kmc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1508760" cy="3586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51960"/>
            <a:ext cx="9144000" cy="36576"/>
          </a:xfrm>
          <a:prstGeom prst="rect">
            <a:avLst/>
          </a:prstGeom>
          <a:solidFill>
            <a:srgbClr val="FF7200"/>
          </a:solidFill>
          <a:ln w="12700">
            <a:solidFill>
              <a:srgbClr val="FF72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DeskYield</a:t>
            </a:r>
            <a:endParaRPr lang="en-US" sz="4400" dirty="0"/>
          </a:p>
          <a:p>
            <a:pPr marL="0" indent="0" algn="ctr">
              <a:buNone/>
            </a:pPr>
            <a:r>
              <a:rPr lang="en-US" sz="2000" b="0" dirty="0">
                <a:solidFill>
                  <a:srgbClr val="CEDD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Empty Desk Revenue Recovery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EDDEF"/>
                </a:solidFill>
                <a:latin typeface="Karla" pitchFamily="34" charset="0"/>
              </a:rPr>
              <a:t>Predict empty desks 7 days out. Recover the revenue.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Product Development Hackathon 2026  ·  Presented by [Your Name / Team]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organization/kmc-presentations/assets/kmc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617720"/>
            <a:ext cx="1005840" cy="2390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We'll Cover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CEDDEF">
              <a:alpha val="60000"/>
            </a:srgbClr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Shape 3"/>
          <p:cNvSpPr/>
          <p:nvPr/>
        </p:nvSpPr>
        <p:spPr>
          <a:xfrm>
            <a:off x="585216" y="1627632"/>
            <a:ext cx="402336" cy="402336"/>
          </a:xfrm>
          <a:prstGeom prst="ellipse">
            <a:avLst/>
          </a:prstGeom>
          <a:solidFill>
            <a:srgbClr val="001738"/>
          </a:solidFill>
          <a:ln w="12700">
            <a:solidFill>
              <a:srgbClr val="00173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4"/>
          <p:cNvSpPr/>
          <p:nvPr/>
        </p:nvSpPr>
        <p:spPr>
          <a:xfrm>
            <a:off x="585216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8992" y="1572768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78992" y="1892808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What gap or pain are we addressing?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1463040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CEDDEF">
              <a:alpha val="60000"/>
            </a:srgbClr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Shape 8"/>
          <p:cNvSpPr/>
          <p:nvPr/>
        </p:nvSpPr>
        <p:spPr>
          <a:xfrm>
            <a:off x="4700016" y="1627632"/>
            <a:ext cx="402336" cy="402336"/>
          </a:xfrm>
          <a:prstGeom prst="ellipse">
            <a:avLst/>
          </a:prstGeom>
          <a:solidFill>
            <a:srgbClr val="001738"/>
          </a:solidFill>
          <a:ln w="12700">
            <a:solidFill>
              <a:srgbClr val="00173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4700016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93792" y="1572768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Proposed Solutions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193792" y="1892808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Our approach and key recommendations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432304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CEDDEF">
              <a:alpha val="60000"/>
            </a:srgbClr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6" name="Shape 13"/>
          <p:cNvSpPr/>
          <p:nvPr/>
        </p:nvSpPr>
        <p:spPr>
          <a:xfrm>
            <a:off x="585216" y="2596896"/>
            <a:ext cx="402336" cy="402336"/>
          </a:xfrm>
          <a:prstGeom prst="ellipse">
            <a:avLst/>
          </a:prstGeom>
          <a:solidFill>
            <a:srgbClr val="001738"/>
          </a:solidFill>
          <a:ln w="12700">
            <a:solidFill>
              <a:srgbClr val="00173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4"/>
          <p:cNvSpPr/>
          <p:nvPr/>
        </p:nvSpPr>
        <p:spPr>
          <a:xfrm>
            <a:off x="585216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78992" y="2542032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Target Users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78992" y="286207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Who this is built for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2432304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CEDDEF">
              <a:alpha val="60000"/>
            </a:srgbClr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1" name="Shape 18"/>
          <p:cNvSpPr/>
          <p:nvPr/>
        </p:nvSpPr>
        <p:spPr>
          <a:xfrm>
            <a:off x="4700016" y="2596896"/>
            <a:ext cx="402336" cy="402336"/>
          </a:xfrm>
          <a:prstGeom prst="ellipse">
            <a:avLst/>
          </a:prstGeom>
          <a:solidFill>
            <a:srgbClr val="001738"/>
          </a:solidFill>
          <a:ln w="12700">
            <a:solidFill>
              <a:srgbClr val="00173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 19"/>
          <p:cNvSpPr/>
          <p:nvPr/>
        </p:nvSpPr>
        <p:spPr>
          <a:xfrm>
            <a:off x="4700016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193792" y="2542032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Business Impact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5193792" y="286207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Value delivered and key metrics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401568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CEDDEF">
              <a:alpha val="60000"/>
            </a:srgbClr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6" name="Shape 23"/>
          <p:cNvSpPr/>
          <p:nvPr/>
        </p:nvSpPr>
        <p:spPr>
          <a:xfrm>
            <a:off x="585216" y="3566160"/>
            <a:ext cx="402336" cy="402336"/>
          </a:xfrm>
          <a:prstGeom prst="ellipse">
            <a:avLst/>
          </a:prstGeom>
          <a:solidFill>
            <a:srgbClr val="001738"/>
          </a:solidFill>
          <a:ln w="12700">
            <a:solidFill>
              <a:srgbClr val="00173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4"/>
          <p:cNvSpPr/>
          <p:nvPr/>
        </p:nvSpPr>
        <p:spPr>
          <a:xfrm>
            <a:off x="585216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78992" y="3511296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Technical Overview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1078992" y="3831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Architecture, stack, and integrations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0" y="3401568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CEDDEF">
              <a:alpha val="60000"/>
            </a:srgbClr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1" name="Shape 28"/>
          <p:cNvSpPr/>
          <p:nvPr/>
        </p:nvSpPr>
        <p:spPr>
          <a:xfrm>
            <a:off x="4700016" y="3566160"/>
            <a:ext cx="402336" cy="402336"/>
          </a:xfrm>
          <a:prstGeom prst="ellipse">
            <a:avLst/>
          </a:prstGeom>
          <a:solidFill>
            <a:srgbClr val="001738"/>
          </a:solidFill>
          <a:ln w="12700">
            <a:solidFill>
              <a:srgbClr val="00173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2" name="Text 29"/>
          <p:cNvSpPr/>
          <p:nvPr/>
        </p:nvSpPr>
        <p:spPr>
          <a:xfrm>
            <a:off x="4700016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193792" y="3511296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Demo Screenshots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5193792" y="3831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Visual walkthrough of the solution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organization/kmc-presentations/assets/kmc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1508760" cy="358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11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01 / PROBLEM STATEMENT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Problem Are We Solving?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organization/kmc-presentations/assets/kmc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617720"/>
            <a:ext cx="1005840" cy="2390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Core Challenge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11480" y="123444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384048" cy="384048"/>
          </a:xfrm>
          <a:prstGeom prst="ellipse">
            <a:avLst/>
          </a:prstGeom>
          <a:solidFill>
            <a:srgbClr val="FF7200"/>
          </a:solidFill>
          <a:ln w="12700">
            <a:solidFill>
              <a:srgbClr val="FF72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4"/>
          <p:cNvSpPr/>
          <p:nvPr/>
        </p:nvSpPr>
        <p:spPr>
          <a:xfrm>
            <a:off x="56692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60704" y="13441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Silent revenue leak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60704" y="16002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Clients pay for seats they don’t fully use. Occupancy looks fine; revenue quietly drops.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313432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Shape 8"/>
          <p:cNvSpPr/>
          <p:nvPr/>
        </p:nvSpPr>
        <p:spPr>
          <a:xfrm>
            <a:off x="566928" y="2560320"/>
            <a:ext cx="384048" cy="384048"/>
          </a:xfrm>
          <a:prstGeom prst="ellipse">
            <a:avLst/>
          </a:prstGeom>
          <a:solidFill>
            <a:srgbClr val="FF7200"/>
          </a:solidFill>
          <a:ln w="12700">
            <a:solidFill>
              <a:srgbClr val="FF72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566928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60704" y="24231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 early warning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60704" y="26791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Near-expiry contracts and shrinking usage are caught only after the desk is empty. Too late to act.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1480" y="3392424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6" name="Shape 13"/>
          <p:cNvSpPr/>
          <p:nvPr/>
        </p:nvSpPr>
        <p:spPr>
          <a:xfrm>
            <a:off x="566928" y="3639312"/>
            <a:ext cx="384048" cy="384048"/>
          </a:xfrm>
          <a:prstGeom prst="ellipse">
            <a:avLst/>
          </a:prstGeom>
          <a:solidFill>
            <a:srgbClr val="FF7200"/>
          </a:solidFill>
          <a:ln w="12700">
            <a:solidFill>
              <a:srgbClr val="FF72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4"/>
          <p:cNvSpPr/>
          <p:nvPr/>
        </p:nvSpPr>
        <p:spPr>
          <a:xfrm>
            <a:off x="566928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60704" y="35021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Reactive &amp; manual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60704" y="375818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Account teams react after the fact, with no ranking of which accounts to save first.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394960" y="1234440"/>
            <a:ext cx="3337560" cy="3236976"/>
          </a:xfrm>
          <a:prstGeom prst="roundRect">
            <a:avLst>
              <a:gd name="adj" fmla="val 2825"/>
            </a:avLst>
          </a:prstGeom>
          <a:solidFill>
            <a:srgbClr val="001738"/>
          </a:solidFill>
          <a:ln w="12700">
            <a:solidFill>
              <a:srgbClr val="00173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8"/>
          <p:cNvSpPr/>
          <p:nvPr/>
        </p:nvSpPr>
        <p:spPr>
          <a:xfrm>
            <a:off x="5394960" y="141732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KEY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INSIGHT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94960" y="192024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72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₱396K</a:t>
            </a:r>
            <a:endParaRPr lang="en-US" sz="7200" dirty="0"/>
          </a:p>
        </p:txBody>
      </p:sp>
      <p:sp>
        <p:nvSpPr>
          <p:cNvPr id="23" name="Text 20"/>
          <p:cNvSpPr/>
          <p:nvPr/>
        </p:nvSpPr>
        <p:spPr>
          <a:xfrm>
            <a:off x="5486400" y="30632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EDDE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Revenue at risk in the next 7 days, across 21 active agreements (live demo data)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organization/kmc-presentations/assets/kmc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1508760" cy="358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11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02 / PROPOSED SOLUTIONS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Our Recommended Approach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organization/kmc-presentations/assets/kmc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617720"/>
            <a:ext cx="1005840" cy="2390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PROPOSED SOLUTIONS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How We Address the Challenge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Shape 3"/>
          <p:cNvSpPr/>
          <p:nvPr/>
        </p:nvSpPr>
        <p:spPr>
          <a:xfrm>
            <a:off x="1463040" y="1554480"/>
            <a:ext cx="548640" cy="548640"/>
          </a:xfrm>
          <a:prstGeom prst="ellipse">
            <a:avLst/>
          </a:prstGeom>
          <a:solidFill>
            <a:srgbClr val="CEDDEF"/>
          </a:solidFill>
          <a:ln w="12700">
            <a:solidFill>
              <a:srgbClr val="CEDD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4"/>
          <p:cNvSpPr/>
          <p:nvPr/>
        </p:nvSpPr>
        <p:spPr>
          <a:xfrm>
            <a:off x="1463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792" y="224028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Risk Scoring Engine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" y="2715768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Scores every agreement 0–1 on 4 weighted signals.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3429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Days to Expiry 40% · Seat Gap 30%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Lease Term 20% · Account 10%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Bands: Critical → Low, deterministic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73552" y="132588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001738"/>
          </a:solidFill>
          <a:ln w="12700">
            <a:solidFill>
              <a:srgbClr val="00173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2" name="Shape 9"/>
          <p:cNvSpPr/>
          <p:nvPr/>
        </p:nvSpPr>
        <p:spPr>
          <a:xfrm>
            <a:off x="4279392" y="1554480"/>
            <a:ext cx="548640" cy="548640"/>
          </a:xfrm>
          <a:prstGeom prst="ellipse">
            <a:avLst/>
          </a:prstGeom>
          <a:solidFill>
            <a:srgbClr val="FF7200"/>
          </a:solidFill>
          <a:ln w="12700">
            <a:solidFill>
              <a:srgbClr val="FF72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Text 10"/>
          <p:cNvSpPr/>
          <p:nvPr/>
        </p:nvSpPr>
        <p:spPr>
          <a:xfrm>
            <a:off x="427939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38144" y="224028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Action Center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438144" y="2715768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EDDE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Top 3 ranked plays, each peso-tagged and ready to send.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74720" y="3429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EDDE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Re-engagement email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EDDE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Short-term resale listing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EDDE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Broker pipeline handoff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89904" y="132588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8" name="Shape 15"/>
          <p:cNvSpPr/>
          <p:nvPr/>
        </p:nvSpPr>
        <p:spPr>
          <a:xfrm>
            <a:off x="7095744" y="1554480"/>
            <a:ext cx="548640" cy="548640"/>
          </a:xfrm>
          <a:prstGeom prst="ellipse">
            <a:avLst/>
          </a:prstGeom>
          <a:solidFill>
            <a:srgbClr val="CEDDEF"/>
          </a:solidFill>
          <a:ln w="12700">
            <a:solidFill>
              <a:srgbClr val="CEDD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6"/>
          <p:cNvSpPr/>
          <p:nvPr/>
        </p:nvSpPr>
        <p:spPr>
          <a:xfrm>
            <a:off x="709574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254496" y="224028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API + MCP Service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254496" y="2715768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One engine: a REST API and an MCP server.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91072" y="3429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REST API endpoints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MCP server for AI agents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Live interactive docs at /docs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organization/kmc-presentations/assets/kmc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1508760" cy="358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11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03 / TARGET USERS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Who This Is Built For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60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Personas &amp; User Groups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11480" y="1280160"/>
            <a:ext cx="83210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Shape 3"/>
          <p:cNvSpPr/>
          <p:nvPr/>
        </p:nvSpPr>
        <p:spPr>
          <a:xfrm>
            <a:off x="566928" y="1554480"/>
            <a:ext cx="502920" cy="502920"/>
          </a:xfrm>
          <a:prstGeom prst="ellipse">
            <a:avLst/>
          </a:prstGeom>
          <a:solidFill>
            <a:srgbClr val="FF7200"/>
          </a:solidFill>
          <a:ln w="12700">
            <a:solidFill>
              <a:srgbClr val="FF72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4"/>
          <p:cNvSpPr/>
          <p:nvPr/>
        </p:nvSpPr>
        <p:spPr>
          <a:xfrm>
            <a:off x="56692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07008" y="13898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Primary  ·  Revenue / Occupancy Manager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07008" y="168249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Sees which desks are leaking revenue and acts on the highest-value ones first.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1481328"/>
            <a:ext cx="2103120" cy="621792"/>
          </a:xfrm>
          <a:prstGeom prst="roundRect">
            <a:avLst>
              <a:gd name="adj" fmla="val 8824"/>
            </a:avLst>
          </a:prstGeom>
          <a:solidFill>
            <a:srgbClr val="CEDDEF">
              <a:alpha val="70000"/>
            </a:srgbClr>
          </a:solidFill>
          <a:ln w="12700">
            <a:solidFill>
              <a:srgbClr val="CEDD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8"/>
          <p:cNvSpPr/>
          <p:nvPr/>
        </p:nvSpPr>
        <p:spPr>
          <a:xfrm>
            <a:off x="6400800" y="14813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PAIN TODAY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46520" y="17373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173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Finds out after the desk is empty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2487168"/>
            <a:ext cx="8321040" cy="1051560"/>
          </a:xfrm>
          <a:prstGeom prst="roundRect">
            <a:avLst>
              <a:gd name="adj" fmla="val 6087"/>
            </a:avLst>
          </a:prstGeom>
          <a:solidFill>
            <a:srgbClr val="F5F8FC"/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4" name="Shape 11"/>
          <p:cNvSpPr/>
          <p:nvPr/>
        </p:nvSpPr>
        <p:spPr>
          <a:xfrm>
            <a:off x="566928" y="2761488"/>
            <a:ext cx="502920" cy="502920"/>
          </a:xfrm>
          <a:prstGeom prst="ellipse">
            <a:avLst/>
          </a:prstGeom>
          <a:solidFill>
            <a:srgbClr val="001738"/>
          </a:solidFill>
          <a:ln w="12700">
            <a:solidFill>
              <a:srgbClr val="00173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2"/>
          <p:cNvSpPr/>
          <p:nvPr/>
        </p:nvSpPr>
        <p:spPr>
          <a:xfrm>
            <a:off x="566928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07008" y="25968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Secondary  ·  Account Managers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07008" y="28895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Gets the auto-drafted re-engagement email and the exact client to call.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0" y="2688336"/>
            <a:ext cx="2103120" cy="621792"/>
          </a:xfrm>
          <a:prstGeom prst="roundRect">
            <a:avLst>
              <a:gd name="adj" fmla="val 8824"/>
            </a:avLst>
          </a:prstGeom>
          <a:solidFill>
            <a:srgbClr val="CEDDEF">
              <a:alpha val="70000"/>
            </a:srgbClr>
          </a:solidFill>
          <a:ln w="12700">
            <a:solidFill>
              <a:srgbClr val="CEDD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6"/>
          <p:cNvSpPr/>
          <p:nvPr/>
        </p:nvSpPr>
        <p:spPr>
          <a:xfrm>
            <a:off x="6400800" y="26883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PAIN TODAY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46520" y="294436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173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No prioritized call list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1480" y="3694176"/>
            <a:ext cx="83210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2" name="Shape 19"/>
          <p:cNvSpPr/>
          <p:nvPr/>
        </p:nvSpPr>
        <p:spPr>
          <a:xfrm>
            <a:off x="566928" y="3968496"/>
            <a:ext cx="502920" cy="502920"/>
          </a:xfrm>
          <a:prstGeom prst="ellipse">
            <a:avLst/>
          </a:prstGeom>
          <a:solidFill>
            <a:srgbClr val="001738"/>
          </a:solidFill>
          <a:ln w="12700">
            <a:solidFill>
              <a:srgbClr val="00173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20"/>
          <p:cNvSpPr/>
          <p:nvPr/>
        </p:nvSpPr>
        <p:spPr>
          <a:xfrm>
            <a:off x="566928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07008" y="38039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Administrator  ·  Leadership / Ops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07008" y="40965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Portfolio view of revenue at risk vs. recoverable across the estate.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0" y="3895344"/>
            <a:ext cx="2103120" cy="621792"/>
          </a:xfrm>
          <a:prstGeom prst="roundRect">
            <a:avLst>
              <a:gd name="adj" fmla="val 8824"/>
            </a:avLst>
          </a:prstGeom>
          <a:solidFill>
            <a:srgbClr val="CEDDEF">
              <a:alpha val="70000"/>
            </a:srgbClr>
          </a:solidFill>
          <a:ln w="12700">
            <a:solidFill>
              <a:srgbClr val="CEDD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4"/>
          <p:cNvSpPr/>
          <p:nvPr/>
        </p:nvSpPr>
        <p:spPr>
          <a:xfrm>
            <a:off x="6400800" y="38953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PAIN TODAY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46520" y="4151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173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No single number to track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organization/kmc-presentations/assets/kmc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1508760" cy="358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11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04 / BUSINESS IMPACT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Value &amp; ROI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60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Measurable Outcomes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1298448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001738"/>
          </a:solidFill>
          <a:ln w="12700">
            <a:solidFill>
              <a:srgbClr val="00173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Text 3"/>
          <p:cNvSpPr/>
          <p:nvPr/>
        </p:nvSpPr>
        <p:spPr>
          <a:xfrm>
            <a:off x="457200" y="143560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72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₱396K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209397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EDDE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Revenue at Risk / 7d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14600" y="1298448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/>
          <p:nvPr/>
        </p:nvSpPr>
        <p:spPr>
          <a:xfrm>
            <a:off x="2514600" y="143560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₱476K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514600" y="209397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Recoverable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1298448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4572000" y="143560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21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572000" y="209397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Agreements Scored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29400" y="1298448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" name="Text 12"/>
          <p:cNvSpPr/>
          <p:nvPr/>
        </p:nvSpPr>
        <p:spPr>
          <a:xfrm>
            <a:off x="6629400" y="1435608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629400" y="209397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Cold Vacancies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74320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FF4EE"/>
          </a:solidFill>
          <a:ln w="12700">
            <a:solidFill>
              <a:srgbClr val="FF72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5"/>
          <p:cNvSpPr/>
          <p:nvPr/>
        </p:nvSpPr>
        <p:spPr>
          <a:xfrm>
            <a:off x="640080" y="28346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BEFORE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3163824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173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Manual and reactive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173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Caught after the desk is empty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173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No peso figure to act 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274320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EEF4FF"/>
          </a:solidFill>
          <a:ln w="12700">
            <a:solidFill>
              <a:srgbClr val="CEDD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8"/>
          <p:cNvSpPr/>
          <p:nvPr/>
        </p:nvSpPr>
        <p:spPr>
          <a:xfrm>
            <a:off x="4937760" y="28346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173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AFTER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937760" y="3163824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173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7-day revenue forecast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173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Ranked, peso-tagged actions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173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One-click recovery payloads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434840" y="3822192"/>
            <a:ext cx="320040" cy="0"/>
          </a:xfrm>
          <a:prstGeom prst="line">
            <a:avLst/>
          </a:prstGeom>
          <a:noFill/>
          <a:ln w="19050">
            <a:solidFill>
              <a:srgbClr val="5B6B7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Text 21"/>
          <p:cNvSpPr/>
          <p:nvPr/>
        </p:nvSpPr>
        <p:spPr>
          <a:xfrm>
            <a:off x="4416552" y="37033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organization/kmc-presentations/assets/kmc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1508760" cy="358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11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05 / TECHNICAL OVERVIEW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Architecture &amp; Stack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organization/kmc-presentations/assets/kmc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617720"/>
            <a:ext cx="1005840" cy="2390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TECHNICAL OVERVIEW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Architecture &amp; Integration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42900" y="137160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001738"/>
          </a:solidFill>
          <a:ln w="12700">
            <a:solidFill>
              <a:srgbClr val="00173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Text 3"/>
          <p:cNvSpPr/>
          <p:nvPr/>
        </p:nvSpPr>
        <p:spPr>
          <a:xfrm>
            <a:off x="342900" y="15087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2900" y="184708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EDDE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KMC ERP (seats)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71700" y="1828800"/>
            <a:ext cx="320040" cy="0"/>
          </a:xfrm>
          <a:prstGeom prst="line">
            <a:avLst/>
          </a:prstGeom>
          <a:noFill/>
          <a:ln w="25400">
            <a:solidFill>
              <a:srgbClr val="FF72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/>
          <p:nvPr/>
        </p:nvSpPr>
        <p:spPr>
          <a:xfrm>
            <a:off x="2290572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83180" y="137160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Text 8"/>
          <p:cNvSpPr/>
          <p:nvPr/>
        </p:nvSpPr>
        <p:spPr>
          <a:xfrm>
            <a:off x="2583180" y="15087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Next.js Engine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583180" y="184708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REST + MCP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11980" y="1828800"/>
            <a:ext cx="320040" cy="0"/>
          </a:xfrm>
          <a:prstGeom prst="line">
            <a:avLst/>
          </a:prstGeom>
          <a:noFill/>
          <a:ln w="25400">
            <a:solidFill>
              <a:srgbClr val="FF72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1"/>
          <p:cNvSpPr/>
          <p:nvPr/>
        </p:nvSpPr>
        <p:spPr>
          <a:xfrm>
            <a:off x="4530852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23460" y="137160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6" name="Text 13"/>
          <p:cNvSpPr/>
          <p:nvPr/>
        </p:nvSpPr>
        <p:spPr>
          <a:xfrm>
            <a:off x="4823460" y="15087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Frontend / App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23460" y="184708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Dashboard · Embed · Agent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52260" y="1828800"/>
            <a:ext cx="320040" cy="0"/>
          </a:xfrm>
          <a:prstGeom prst="line">
            <a:avLst/>
          </a:prstGeom>
          <a:noFill/>
          <a:ln w="25400">
            <a:solidFill>
              <a:srgbClr val="FF72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6"/>
          <p:cNvSpPr/>
          <p:nvPr/>
        </p:nvSpPr>
        <p:spPr>
          <a:xfrm>
            <a:off x="6771132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7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63740" y="137160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1" name="Text 18"/>
          <p:cNvSpPr/>
          <p:nvPr/>
        </p:nvSpPr>
        <p:spPr>
          <a:xfrm>
            <a:off x="7063740" y="15087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End User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063740" y="184708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Internal · External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42032"/>
          <a:ext cx="8229600" cy="186537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Category</a:t>
                      </a:r>
                      <a:endParaRPr lang="en-US" sz="13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Technology / Tool</a:t>
                      </a:r>
                      <a:endParaRPr lang="en-US" sz="13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Role</a:t>
                      </a:r>
                      <a:endParaRPr lang="en-US" sz="13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Frontend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Next.js 16 · React 19 · Tailwind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User Interface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Backend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Next.js route handlers (serverless)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Business Logic &amp; APIs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Database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None — stateless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Reads ERP snapshot live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Logic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Pure TypeScript engine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Deterministic scoring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Integration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REST API + MCP server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73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App + AI agent access</a:t>
                      </a:r>
                      <a:endParaRPr lang="en-US" sz="11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organization/kmc-presentations/assets/kmc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1508760" cy="358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11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06 / DEMO SCREENSHOTS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23317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See It in Action</a:t>
            </a:r>
            <a:endParaRPr lang="en-US" sz="4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organization/kmc-presentations/assets/kmc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617720"/>
            <a:ext cx="1005840" cy="2390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DEMO SCREENSHOTS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Visual Walkthrough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CEDDEF">
              <a:alpha val="50000"/>
            </a:srgbClr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Paste screenshot here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1788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KPI bar, risk table, action center — / route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32588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CEDDEF">
              <a:alpha val="50000"/>
            </a:srgbClr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0" name="Text 7"/>
          <p:cNvSpPr/>
          <p:nvPr/>
        </p:nvSpPr>
        <p:spPr>
          <a:xfrm>
            <a:off x="4754880" y="2331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Action Center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937760" y="2834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Paste screenshot here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0" y="41788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Top 3 plays + email / listing preview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organization/kmc-presentations/assets/kmc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617720"/>
            <a:ext cx="1005840" cy="2390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DEMO SCREENSHOTS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Detailed View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CEDDEF">
              <a:alpha val="40000"/>
            </a:srgbClr>
          </a:solidFill>
          <a:ln w="12700">
            <a:solidFill>
              <a:srgbClr val="CEDD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173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Live API Console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Paste a full-width screenshot of /docs here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Interactive /docs — fire real REST requests and MCP tools live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1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organization/kmc-presentations/assets/kmc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1508760" cy="358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72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END OF PRESENTATION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81051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279533" y="2932218"/>
            <a:ext cx="3561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EDDE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Team Member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79533" y="3316266"/>
            <a:ext cx="3561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EDDE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Team Member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79533" y="3700314"/>
            <a:ext cx="3561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EDDE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Team Member 3</a:t>
            </a:r>
            <a:endParaRPr lang="en-US" sz="14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B98AD18-A8AE-941E-8FBB-FFFEAD9C4353}"/>
              </a:ext>
            </a:extLst>
          </p:cNvPr>
          <p:cNvSpPr/>
          <p:nvPr/>
        </p:nvSpPr>
        <p:spPr>
          <a:xfrm>
            <a:off x="4841309" y="2910882"/>
            <a:ext cx="3561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EDDE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Team Member 1</a:t>
            </a:r>
            <a:endParaRPr lang="en-US" sz="1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A0C10699-F872-6236-3015-E26FAA7C87F6}"/>
              </a:ext>
            </a:extLst>
          </p:cNvPr>
          <p:cNvSpPr/>
          <p:nvPr/>
        </p:nvSpPr>
        <p:spPr>
          <a:xfrm>
            <a:off x="4841309" y="3294930"/>
            <a:ext cx="3561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EDDE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Team Member 2</a:t>
            </a:r>
            <a:endParaRPr lang="en-US" sz="14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5ECDB22D-DFC4-8DBC-B81B-559ABB5FA647}"/>
              </a:ext>
            </a:extLst>
          </p:cNvPr>
          <p:cNvSpPr/>
          <p:nvPr/>
        </p:nvSpPr>
        <p:spPr>
          <a:xfrm>
            <a:off x="4841309" y="3678978"/>
            <a:ext cx="3561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EDDE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Team Member 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803</Words>
  <Application>Microsoft Office PowerPoint</Application>
  <PresentationFormat>On-screen Show (16:9)</PresentationFormat>
  <Paragraphs>190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KMC Solution Proposal Template</dc:title>
  <dc:subject>PptxGenJS Presentation</dc:subject>
  <dc:creator>KMC Solutions</dc:creator>
  <cp:lastModifiedBy>Chrisdan Evalla</cp:lastModifiedBy>
  <cp:revision>3</cp:revision>
  <dcterms:created xsi:type="dcterms:W3CDTF">2026-06-25T05:07:12Z</dcterms:created>
  <dcterms:modified xsi:type="dcterms:W3CDTF">2026-06-25T06:37:37Z</dcterms:modified>
</cp:coreProperties>
</file>